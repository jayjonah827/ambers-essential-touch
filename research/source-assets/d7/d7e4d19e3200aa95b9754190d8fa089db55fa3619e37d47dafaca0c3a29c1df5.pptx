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35e3a48edd403b" /><Relationship Type="http://schemas.openxmlformats.org/officeDocument/2006/relationships/extended-properties" Target="/docProps/app.xml" Id="Rd2c86de0be8d43cb" /><Relationship Type="http://schemas.openxmlformats.org/officeDocument/2006/relationships/officeDocument" Target="/ppt/presentation.xml" Id="R523fdf520336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a2097522f4643"/>
  </p:sldMasterIdLst>
  <p:notesMasterIdLst>
    <p:notesMasterId xmlns:r="http://schemas.openxmlformats.org/officeDocument/2006/relationships" r:id="R739fae2798e8401f"/>
  </p:notesMasterIdLst>
  <p:sldIdLst>
    <p:sldId xmlns:r="http://schemas.openxmlformats.org/officeDocument/2006/relationships" id="256" r:id="Ra345ab45c30445ef"/>
    <p:sldId xmlns:r="http://schemas.openxmlformats.org/officeDocument/2006/relationships" id="257" r:id="Rc82e844fcaae4d27"/>
    <p:sldId xmlns:r="http://schemas.openxmlformats.org/officeDocument/2006/relationships" id="258" r:id="R68a361127b654c68"/>
    <p:sldId xmlns:r="http://schemas.openxmlformats.org/officeDocument/2006/relationships" id="259" r:id="Rb6103bc974dc4096"/>
    <p:sldId xmlns:r="http://schemas.openxmlformats.org/officeDocument/2006/relationships" id="260" r:id="R40f154e432474a34"/>
    <p:sldId xmlns:r="http://schemas.openxmlformats.org/officeDocument/2006/relationships" id="261" r:id="R66b4b268447346d5"/>
    <p:sldId xmlns:r="http://schemas.openxmlformats.org/officeDocument/2006/relationships" id="262" r:id="R8ebd43655c3944e6"/>
    <p:sldId xmlns:r="http://schemas.openxmlformats.org/officeDocument/2006/relationships" id="263" r:id="R1c741727da4f42f7"/>
    <p:sldId xmlns:r="http://schemas.openxmlformats.org/officeDocument/2006/relationships" id="264" r:id="R9dfd2dd595a44bd0"/>
    <p:sldId xmlns:r="http://schemas.openxmlformats.org/officeDocument/2006/relationships" id="265" r:id="Rf6be17f99638457e"/>
    <p:sldId xmlns:r="http://schemas.openxmlformats.org/officeDocument/2006/relationships" id="266" r:id="R4c80cfbe3d6145ae"/>
    <p:sldId xmlns:r="http://schemas.openxmlformats.org/officeDocument/2006/relationships" id="267" r:id="R75410637f3bb4435"/>
    <p:sldId xmlns:r="http://schemas.openxmlformats.org/officeDocument/2006/relationships" id="268" r:id="R0be55e157ebf463d"/>
    <p:sldId xmlns:r="http://schemas.openxmlformats.org/officeDocument/2006/relationships" id="269" r:id="Rd6ce8a20b72b40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2f9f5a5d21413b" /><Relationship Type="http://schemas.openxmlformats.org/officeDocument/2006/relationships/slideMaster" Target="/ppt/slideMasters/slideMaster1.xml" Id="Ra89a2097522f4643" /><Relationship Type="http://schemas.openxmlformats.org/officeDocument/2006/relationships/notesMaster" Target="/ppt/notesMasters/notesMaster1.xml" Id="R739fae2798e8401f" /><Relationship Type="http://schemas.openxmlformats.org/officeDocument/2006/relationships/presProps" Target="/ppt/presProps.xml" Id="R04c4c647933b49eb" /><Relationship Type="http://schemas.openxmlformats.org/officeDocument/2006/relationships/tableStyles" Target="/ppt/tableStyles.xml" Id="R74eca80696464329" /><Relationship Type="http://schemas.openxmlformats.org/officeDocument/2006/relationships/slide" Target="/ppt/slides/slide1.xml" Id="Ra345ab45c30445ef" /><Relationship Type="http://schemas.openxmlformats.org/officeDocument/2006/relationships/slide" Target="/ppt/slides/slide2.xml" Id="Rc82e844fcaae4d27" /><Relationship Type="http://schemas.openxmlformats.org/officeDocument/2006/relationships/slide" Target="/ppt/slides/slide3.xml" Id="R68a361127b654c68" /><Relationship Type="http://schemas.openxmlformats.org/officeDocument/2006/relationships/slide" Target="/ppt/slides/slide4.xml" Id="Rb6103bc974dc4096" /><Relationship Type="http://schemas.openxmlformats.org/officeDocument/2006/relationships/slide" Target="/ppt/slides/slide5.xml" Id="R40f154e432474a34" /><Relationship Type="http://schemas.openxmlformats.org/officeDocument/2006/relationships/slide" Target="/ppt/slides/slide6.xml" Id="R66b4b268447346d5" /><Relationship Type="http://schemas.openxmlformats.org/officeDocument/2006/relationships/slide" Target="/ppt/slides/slide7.xml" Id="R8ebd43655c3944e6" /><Relationship Type="http://schemas.openxmlformats.org/officeDocument/2006/relationships/slide" Target="/ppt/slides/slide8.xml" Id="R1c741727da4f42f7" /><Relationship Type="http://schemas.openxmlformats.org/officeDocument/2006/relationships/slide" Target="/ppt/slides/slide9.xml" Id="R9dfd2dd595a44bd0" /><Relationship Type="http://schemas.openxmlformats.org/officeDocument/2006/relationships/slide" Target="/ppt/slides/slide10.xml" Id="Rf6be17f99638457e" /><Relationship Type="http://schemas.openxmlformats.org/officeDocument/2006/relationships/slide" Target="/ppt/slides/slide11.xml" Id="R4c80cfbe3d6145ae" /><Relationship Type="http://schemas.openxmlformats.org/officeDocument/2006/relationships/slide" Target="/ppt/slides/slide12.xml" Id="R75410637f3bb4435" /><Relationship Type="http://schemas.openxmlformats.org/officeDocument/2006/relationships/slide" Target="/ppt/slides/slide13.xml" Id="R0be55e157ebf463d" /><Relationship Type="http://schemas.openxmlformats.org/officeDocument/2006/relationships/slide" Target="/ppt/slides/slide14.xml" Id="Rd6ce8a20b72b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4094c186284e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ba99101b8e4b0e" /><Relationship Type="http://schemas.openxmlformats.org/officeDocument/2006/relationships/notesMaster" Target="/ppt/notesMasters/notesMaster1.xml" Id="R17ec2d55f9364b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8b318658a7402a" /><Relationship Type="http://schemas.openxmlformats.org/officeDocument/2006/relationships/notesMaster" Target="/ppt/notesMasters/notesMaster1.xml" Id="R4c21e8f9639a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87b49735e64626" /><Relationship Type="http://schemas.openxmlformats.org/officeDocument/2006/relationships/notesMaster" Target="/ppt/notesMasters/notesMaster1.xml" Id="Ra49200e6c96649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149769010e4e85" /><Relationship Type="http://schemas.openxmlformats.org/officeDocument/2006/relationships/notesMaster" Target="/ppt/notesMasters/notesMaster1.xml" Id="Rfe522a72b96341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db26bfeea343fc" /><Relationship Type="http://schemas.openxmlformats.org/officeDocument/2006/relationships/notesMaster" Target="/ppt/notesMasters/notesMaster1.xml" Id="R0b6dcdbf452d40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f04c9020b24442" /><Relationship Type="http://schemas.openxmlformats.org/officeDocument/2006/relationships/notesMaster" Target="/ppt/notesMasters/notesMaster1.xml" Id="R3cd9cce154d548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196cda73bb4465" /><Relationship Type="http://schemas.openxmlformats.org/officeDocument/2006/relationships/notesMaster" Target="/ppt/notesMasters/notesMaster1.xml" Id="R05fb5874a9e04e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59912b115946e5" /><Relationship Type="http://schemas.openxmlformats.org/officeDocument/2006/relationships/notesMaster" Target="/ppt/notesMasters/notesMaster1.xml" Id="R25df8c1d121448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3a781dd7b74273" /><Relationship Type="http://schemas.openxmlformats.org/officeDocument/2006/relationships/notesMaster" Target="/ppt/notesMasters/notesMaster1.xml" Id="R19ee7d91c6594b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e8ed2a577d4136" /><Relationship Type="http://schemas.openxmlformats.org/officeDocument/2006/relationships/notesMaster" Target="/ppt/notesMasters/notesMaster1.xml" Id="R5cc29704c7f84a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35a3ce0c8147bf" /><Relationship Type="http://schemas.openxmlformats.org/officeDocument/2006/relationships/notesMaster" Target="/ppt/notesMasters/notesMaster1.xml" Id="R5c826c13d38d40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afb9a6b60d42f1" /><Relationship Type="http://schemas.openxmlformats.org/officeDocument/2006/relationships/notesMaster" Target="/ppt/notesMasters/notesMaster1.xml" Id="R00bb7ce0fbb040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a303a3d0b4459e" /><Relationship Type="http://schemas.openxmlformats.org/officeDocument/2006/relationships/notesMaster" Target="/ppt/notesMasters/notesMaster1.xml" Id="R9400c18adac94e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91de9f1b404c78" /><Relationship Type="http://schemas.openxmlformats.org/officeDocument/2006/relationships/notesMaster" Target="/ppt/notesMasters/notesMaster1.xml" Id="Rd7b22380708a48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Amber's Essential Touch campaign brief, 2026-08-14.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AMBER_ESSENTIAL_TOUCH_SOURCE_BACKED_CAMPAIGN_BRIEFS.md, Main Goal and Campaign Accumulation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Census Reporter, Pinole city, California profile: https://censusreporter.org/profiles/16000US0657288-pinole-ca/</a:t>
            </a:r>
          </a:p>
          <a:p xmlns:a="http://schemas.openxmlformats.org/drawingml/2006/main">
            <a:r>
              <a:t>- U.S. Census Bureau QuickFacts, Pinole city, California: https://www.census.gov/quickfacts/fact/table/pinolecitycalifornia/HSG495224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U.S. Census Bureau QuickFacts, Pinole city, California: https://www.census.gov/quickfacts/fact/table/pinolecitycalifornia/HSG495224</a:t>
            </a:r>
          </a:p>
          <a:p xmlns:a="http://schemas.openxmlformats.org/drawingml/2006/main">
            <a:r>
              <a:t>- User-provided campaign brief, Three Age-Group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campaign brief, Pinole demographic composition; approximate shares and source labels preserved.</a:t>
            </a:r>
          </a:p>
          <a:p xmlns:a="http://schemas.openxmlformats.org/drawingml/2006/main">
            <a:r>
              <a:t>- U.S. Census Bureau QuickFacts, Pinole city, California: https://www.census.gov/quickfacts/fact/table/pinolecitycalifornia/HSG495224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AMBER_ESSENTIAL_TOUCH_SOURCE_BACKED_CAMPAIGN_BRIEFS.md, Geographic Skin-Type Audience System and Inclusion Through Quantity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campaign brief, Offer Economics; all dollar and conversion figures are campaign model inputs, not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ImageGen, generated specifically for Amber's Essential Touch campaign, 2026-08-14.</a:t>
            </a:r>
          </a:p>
          <a:p xmlns:a="http://schemas.openxmlformats.org/drawingml/2006/main">
            <a:r>
              <a:t>- User-provided campaign brief and AMBER_ESSENTIAL_TOUCH_SOURCE_BACKED_CAMPAIGN_BRIEFS.md.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ImageGen, generated specifically for Amber's Essential Touch campaign, 2026-08-14.</a:t>
            </a:r>
          </a:p>
          <a:p xmlns:a="http://schemas.openxmlformats.org/drawingml/2006/main">
            <a:r>
              <a:t>- User-provided campaign brief and AMBER_ESSENTIAL_TOUCH_SOURCE_BACKED_CAMPAIGN_BRIEFS.md.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ImageGen, generated specifically for Amber's Essential Touch campaign, 2026-08-14.</a:t>
            </a:r>
          </a:p>
          <a:p xmlns:a="http://schemas.openxmlformats.org/drawingml/2006/main">
            <a:r>
              <a:t>- User-provided campaign brief and AMBER_ESSENTIAL_TOUCH_SOURCE_BACKED_CAMPAIGN_BRIEFS.md.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ImageGen, generated specifically for Amber's Essential Touch campaign, 2026-08-14.</a:t>
            </a:r>
          </a:p>
          <a:p xmlns:a="http://schemas.openxmlformats.org/drawingml/2006/main">
            <a:r>
              <a:t>- User-provided campaign brief and AMBER_ESSENTIAL_TOUCH_SOURCE_BACKED_CAMPAIGN_BRIEFS.md.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AMBER_ESSENTIAL_TOUCH_SOURCE_BACKED_CAMPAIGN_BRIEFS.md, Content Pillars and Production Accumulation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Reels ads guidance: https://www.facebook.com/business/ads/facebook-instagram-reels-ads</a:t>
            </a:r>
          </a:p>
          <a:p xmlns:a="http://schemas.openxmlformats.org/drawingml/2006/main">
            <a:r>
              <a:t>- TikTok SMB Beauty Playbook: https://ads.tiktok.com/business/library/English_SMB_Beauty_META_Playbook_English_Final.pdf</a:t>
            </a:r>
          </a:p>
          <a:p xmlns:a="http://schemas.openxmlformats.org/drawingml/2006/main">
            <a:r>
              <a:t>- AMBER_ESSENTIAL_TOUCH_SOURCE_BACKED_CAMPAIGN_BRIEFS.md, Production Accumulation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AMBER_ESSENTIAL_TOUCH_SOURCE_BACKED_CAMPAIGN_BRIEFS.md, Measurement and Final Standard.</a:t>
            </a:r>
          </a:p>
          <a:p xmlns:a="http://schemas.openxmlformats.org/drawingml/2006/main">
            <a:r>
              <a:t>- Meta tailored campaign guidance: https://www.facebook.com/business/ads/automation/tailored-campaigns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8c7d0ed0840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57a74baa04260" /><Relationship Type="http://schemas.openxmlformats.org/officeDocument/2006/relationships/slideLayout" Target="/ppt/slideLayouts/slideLayout1.xml" Id="Rab091f1598534b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91f1598534b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cb801bc304e33" /><Relationship Type="http://schemas.openxmlformats.org/officeDocument/2006/relationships/notesSlide" Target="/ppt/notesSlides/notesSlide1.xml" Id="Racf8a7f2bb8b46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8c7df601e412b" /><Relationship Type="http://schemas.openxmlformats.org/officeDocument/2006/relationships/notesSlide" Target="/ppt/notesSlides/notesSlide2.xml" Id="Re1b25e2a777443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3d69e38f44fd3" /><Relationship Type="http://schemas.openxmlformats.org/officeDocument/2006/relationships/notesSlide" Target="/ppt/notesSlides/notesSlide3.xml" Id="R45887940c9c848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86f1cac2d41a5" /><Relationship Type="http://schemas.openxmlformats.org/officeDocument/2006/relationships/notesSlide" Target="/ppt/notesSlides/notesSlide4.xml" Id="R73af3479e6a742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02fad92ca4958" /><Relationship Type="http://schemas.openxmlformats.org/officeDocument/2006/relationships/notesSlide" Target="/ppt/notesSlides/notesSlide5.xml" Id="Ra78829fd05f4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b2c7f0b174945" /><Relationship Type="http://schemas.openxmlformats.org/officeDocument/2006/relationships/notesSlide" Target="/ppt/notesSlides/notesSlide6.xml" Id="Rde56d23efe944e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156b39b24e57" /><Relationship Type="http://schemas.openxmlformats.org/officeDocument/2006/relationships/notesSlide" Target="/ppt/notesSlides/notesSlide7.xml" Id="Rf8e9610755534d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3753cb8174181" /><Relationship Type="http://schemas.openxmlformats.org/officeDocument/2006/relationships/image" Target="/ppt/media/image.png" Id="R3f57fbb5d7864c22" /><Relationship Type="http://schemas.openxmlformats.org/officeDocument/2006/relationships/notesSlide" Target="/ppt/notesSlides/notesSlide8.xml" Id="R38906b6205c145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d9e5621bd45dc" /><Relationship Type="http://schemas.openxmlformats.org/officeDocument/2006/relationships/image" Target="/ppt/media/image2.png" Id="Rd45e149137f24970" /><Relationship Type="http://schemas.openxmlformats.org/officeDocument/2006/relationships/notesSlide" Target="/ppt/notesSlides/notesSlide9.xml" Id="Rcaf40f93f8e646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e4c94795543d9" /><Relationship Type="http://schemas.openxmlformats.org/officeDocument/2006/relationships/image" Target="/ppt/media/image3.png" Id="Re262d58ec32045ed" /><Relationship Type="http://schemas.openxmlformats.org/officeDocument/2006/relationships/notesSlide" Target="/ppt/notesSlides/notesSlide10.xml" Id="R942fa94777ea4d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7caf1f30b4581" /><Relationship Type="http://schemas.openxmlformats.org/officeDocument/2006/relationships/image" Target="/ppt/media/image4.png" Id="R0e5fb11940c64406" /><Relationship Type="http://schemas.openxmlformats.org/officeDocument/2006/relationships/notesSlide" Target="/ppt/notesSlides/notesSlide11.xml" Id="R966f5ca87ef44b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6486a4f7d4349" /><Relationship Type="http://schemas.openxmlformats.org/officeDocument/2006/relationships/notesSlide" Target="/ppt/notesSlides/notesSlide12.xml" Id="R1f5f84ce6ebc40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300acb43343ff" /><Relationship Type="http://schemas.openxmlformats.org/officeDocument/2006/relationships/notesSlide" Target="/ppt/notesSlides/notesSlide13.xml" Id="R05ad4ac708f44c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f344b7c8b486a" /><Relationship Type="http://schemas.openxmlformats.org/officeDocument/2006/relationships/notesSlide" Target="/ppt/notesSlides/notesSlide14.xml" Id="R284d28e95ebb40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2264F-2C0F-4F29-A86D-1ACE7369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6A90B-3790-41C2-A28E-F17A32B1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C161B-9592-4F23-ADDA-5A6F1C4C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"/>
            <a:ext cx="857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5F0"/>
                </a:solidFill>
              </a:defRPr>
            </a:pPr>
            <a:r>
              <a:rPr sz="4350" b="1">
                <a:solidFill>
                  <a:srgbClr val="F7F5F0"/>
                </a:solidFill>
              </a:rPr>
              <a:t>AMBER'S</a:t>
            </a:r>
          </a:p>
          <a:p xmlns:a="http://schemas.openxmlformats.org/drawingml/2006/main">
            <a:pPr algn="l">
              <a:defRPr sz="4350" b="1">
                <a:solidFill>
                  <a:srgbClr val="F7F5F0"/>
                </a:solidFill>
              </a:defRPr>
            </a:pPr>
            <a:r>
              <a:rPr sz="4350" b="1">
                <a:solidFill>
                  <a:srgbClr val="F7F5F0"/>
                </a:solidFill>
              </a:rPr>
              <a:t>ESSENTIAL TOUCH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09E37-B0D7-40ED-8749-C3B8F74D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3344"/>
                </a:solidFill>
              </a:defRPr>
            </a:pPr>
            <a:r>
              <a:rPr sz="1950" b="1">
                <a:solidFill>
                  <a:srgbClr val="FF3344"/>
                </a:solidFill>
              </a:rPr>
              <a:t>AUDIENCE EXPANSION CAMPAIGN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95437-6864-4FC2-9A04-65BF6F41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A7A7"/>
                </a:solidFill>
              </a:defRPr>
            </a:pPr>
            <a:r>
              <a:rPr sz="1350" b="1">
                <a:solidFill>
                  <a:srgbClr val="A7A7A7"/>
                </a:solidFill>
              </a:rPr>
              <a:t>PINole + EAST BAY  /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C73F7-3404-472A-BB27-A17506D9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C04D9-6297-41BD-8B1C-A131CA4B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5F0"/>
                </a:solidFill>
              </a:defRPr>
            </a:pPr>
            <a:r>
              <a:rPr sz="2625" b="1">
                <a:solidFill>
                  <a:srgbClr val="F7F5F0"/>
                </a:solidFill>
              </a:rPr>
              <a:t>CONTENT THAT EARNS ATTENTION.</a:t>
            </a:r>
          </a:p>
          <a:p xmlns:a="http://schemas.openxmlformats.org/drawingml/2006/main">
            <a:pPr algn="l">
              <a:defRPr sz="2625" b="1">
                <a:solidFill>
                  <a:srgbClr val="F7F5F0"/>
                </a:solidFill>
              </a:defRPr>
            </a:pPr>
            <a:r>
              <a:rPr sz="2625" b="1">
                <a:solidFill>
                  <a:srgbClr val="F7F5F0"/>
                </a:solidFill>
              </a:rPr>
              <a:t>EXPERTISE THAT EARNS THE APPOINTMENT.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26CC4-A89D-4CBA-93C1-F2559EA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BFF"/>
                </a:solidFill>
              </a:defRPr>
            </a:pPr>
            <a:r>
              <a:rPr sz="1050" b="1">
                <a:solidFill>
                  <a:srgbClr val="2F7BFF"/>
                </a:solidFill>
              </a:rPr>
              <a:t>STRATEGY • REAL ADS • MARKET VISUALIZATION • PRODUCTION SYSTEM</a:t>
            </a:r>
          </a:p>
        </p:txBody>
      </p:sp>
    </p:spTree>
    <p:extLst>
      <p:ext uri="{BB962C8B-B14F-4D97-AF65-F5344CB8AC3E}">
        <p14:creationId xmlns:p14="http://schemas.microsoft.com/office/powerpoint/2010/main" val="5974782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AB2009-F7DB-4A14-8978-FA7CF5F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9B449-C87D-4997-AF8E-BF8744EE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CAMPAIGN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6DD3C-7E0A-49CF-81CF-4C00D968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89EAF-1ACC-40EB-93A8-F21DF465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71A89-3C90-4CEA-A4CD-4BDB404D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THE MAIN 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23BAA-9AEB-40DF-A57F-750D4C81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5F0"/>
                </a:solidFill>
              </a:defRPr>
            </a:pPr>
            <a:r>
              <a:rPr sz="3450" b="1">
                <a:solidFill>
                  <a:srgbClr val="F7F5F0"/>
                </a:solidFill>
              </a:rPr>
              <a:t>Turn local expertise into an expanding audience—and that audience into recurring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FAFD3-0A30-4EF2-9084-0E4F32C2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05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C994A-79B1-4448-8921-191DBFF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B7941-E1F9-41F7-B6DA-9CA4202E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0"/>
                </a:solidFill>
              </a:defRPr>
            </a:pPr>
            <a:r>
              <a:rPr sz="1425" b="1">
                <a:solidFill>
                  <a:srgbClr val="F7F5F0"/>
                </a:solidFill>
              </a:rPr>
              <a:t>AUDIENCE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8B1C1-B4E8-4668-9005-1BBEE8C2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33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A7A7"/>
                </a:solidFill>
              </a:defRPr>
            </a:pPr>
            <a:r>
              <a:rPr sz="1800" b="1">
                <a:solidFill>
                  <a:srgbClr val="A7A7A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648A3-D3FE-4BAA-98FB-DDF69F71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05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7E04C-6B49-4BE6-A82F-4059E8A1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7535F-5998-4E5F-9A65-C091BB9D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0"/>
                </a:solidFill>
              </a:defRPr>
            </a:pPr>
            <a:r>
              <a:rPr sz="1425" b="1">
                <a:solidFill>
                  <a:srgbClr val="F7F5F0"/>
                </a:solidFill>
              </a:rPr>
              <a:t>ATTENTION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FAC8E-A7C7-417E-A9A0-74F1DF2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A7A7"/>
                </a:solidFill>
              </a:defRPr>
            </a:pPr>
            <a:r>
              <a:rPr sz="1800" b="1">
                <a:solidFill>
                  <a:srgbClr val="A7A7A7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86D73-F903-410B-8E5F-8214AA0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5CB94-48A4-44C9-9E4A-6B7A9172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D48A5-9267-46B9-8E7F-D9917C08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0"/>
                </a:solidFill>
              </a:defRPr>
            </a:pPr>
            <a:r>
              <a:rPr sz="1425" b="1">
                <a:solidFill>
                  <a:srgbClr val="F7F5F0"/>
                </a:solidFill>
              </a:rPr>
              <a:t>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14262-DF1E-4101-A8F4-DC252F37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33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A7A7"/>
                </a:solidFill>
              </a:defRPr>
            </a:pPr>
            <a:r>
              <a:rPr sz="1800" b="1">
                <a:solidFill>
                  <a:srgbClr val="A7A7A7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2347E-E003-443D-B8D7-31F22487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05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BFF"/>
                </a:solidFill>
              </a:defRPr>
            </a:pPr>
            <a:r>
              <a:rPr sz="1050" b="1">
                <a:solidFill>
                  <a:srgbClr val="2F7B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58590-CEA8-4F43-AFB9-26AAD55E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F0E91-B2EC-42F5-83B3-709EAA43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0"/>
                </a:solidFill>
              </a:defRPr>
            </a:pPr>
            <a:r>
              <a:rPr sz="1425" b="1">
                <a:solidFill>
                  <a:srgbClr val="F7F5F0"/>
                </a:solidFill>
              </a:rPr>
              <a:t>LOCAL DEMAND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75116-3C20-4C8D-94D5-00111EFF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A7A7"/>
                </a:solidFill>
              </a:defRPr>
            </a:pPr>
            <a:r>
              <a:rPr sz="1800" b="1">
                <a:solidFill>
                  <a:srgbClr val="A7A7A7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D136F-1273-4196-88A9-9932728A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BFF"/>
                </a:solidFill>
              </a:defRPr>
            </a:pPr>
            <a:r>
              <a:rPr sz="1050" b="1">
                <a:solidFill>
                  <a:srgbClr val="2F7B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E352A1-CEDE-4E33-AAE7-5ABB3FF4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4432E-5705-4037-8590-81B551F3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0"/>
                </a:solidFill>
              </a:defRPr>
            </a:pPr>
            <a:r>
              <a:rPr sz="1425" b="1">
                <a:solidFill>
                  <a:srgbClr val="F7F5F0"/>
                </a:solidFill>
              </a:rPr>
              <a:t>FIRST VISIT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322F5-5653-4DA2-A4DC-6290ACE6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A7A7"/>
                </a:solidFill>
              </a:defRPr>
            </a:pPr>
            <a:r>
              <a:rPr sz="1800" b="1">
                <a:solidFill>
                  <a:srgbClr val="A7A7A7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D21F3-E76E-4BD7-AF0F-00B64A7E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BFF"/>
                </a:solidFill>
              </a:defRPr>
            </a:pPr>
            <a:r>
              <a:rPr sz="1050" b="1">
                <a:solidFill>
                  <a:srgbClr val="2F7B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3A6F60-BB3E-4580-98B8-557E0430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C6EB9A-5258-4656-9EF3-DB7BDEFD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0"/>
                </a:solidFill>
              </a:defRPr>
            </a:pPr>
            <a:r>
              <a:rPr sz="1425" b="1">
                <a:solidFill>
                  <a:srgbClr val="F7F5F0"/>
                </a:solidFill>
              </a:rPr>
              <a:t>RECURRING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75BD7-2D91-437E-ABBD-ED08980B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33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A7A7"/>
                </a:solidFill>
              </a:defRPr>
            </a:pPr>
            <a:r>
              <a:rPr sz="1800" b="1">
                <a:solidFill>
                  <a:srgbClr val="A7A7A7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1A0E32-F3B4-4014-9B43-71492F9B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05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BFF"/>
                </a:solidFill>
              </a:defRPr>
            </a:pPr>
            <a:r>
              <a:rPr sz="1050" b="1">
                <a:solidFill>
                  <a:srgbClr val="2F7BFF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D086D0-17FF-4202-8FF3-4B85583A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238E7-5B8D-442D-99C1-8DCFBFFA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0"/>
                </a:solidFill>
              </a:defRPr>
            </a:pPr>
            <a:r>
              <a:rPr sz="1425" b="1">
                <a:solidFill>
                  <a:srgbClr val="F7F5F0"/>
                </a:solidFill>
              </a:rPr>
              <a:t>PRODUCT + BRAND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EC209-F171-46E3-BBF4-63779C18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5F0"/>
                </a:solidFill>
              </a:defRPr>
            </a:pPr>
            <a:r>
              <a:rPr sz="2025" b="1">
                <a:solidFill>
                  <a:srgbClr val="F7F5F0"/>
                </a:solidFill>
              </a:rPr>
              <a:t>Inclusion is preserved across the portfolio—not compressed into every post.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567E55-30C6-4943-AC82-8329948C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7A7"/>
                </a:solidFill>
              </a:defRPr>
            </a:pPr>
            <a:r>
              <a:rPr sz="1350" b="0">
                <a:solidFill>
                  <a:srgbClr val="A7A7A7"/>
                </a:solidFill>
              </a:rPr>
              <a:t>Situations, conflicts and comment triggers are executions underneath this accumulation hierarchy.</a:t>
            </a:r>
          </a:p>
        </p:txBody>
      </p:sp>
    </p:spTree>
    <p:extLst>
      <p:ext uri="{BB962C8B-B14F-4D97-AF65-F5344CB8AC3E}">
        <p14:creationId xmlns:p14="http://schemas.microsoft.com/office/powerpoint/2010/main" val="750572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ECCA9-82DF-4677-9A5C-90F3102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D445E-85B8-4B72-B715-2E80E690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REGIONAL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56A3B-DDDE-40C0-8810-BFC0313C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130A7-04C5-4DA1-99D1-D7AABBEC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C7DC4-0D7B-4102-B7FE-3270C15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PINOLE MARKET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856A7-B135-4FFE-97F8-DF9DE513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5F0"/>
                </a:solidFill>
              </a:defRPr>
            </a:pPr>
            <a:r>
              <a:rPr sz="3450" b="1">
                <a:solidFill>
                  <a:srgbClr val="F7F5F0"/>
                </a:solidFill>
              </a:rPr>
              <a:t>A mature, high-income, culturally mixed local base with meaningful multilingual reach.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E8484-C432-4E6C-B301-1CC0D680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65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5F0"/>
                </a:solidFill>
              </a:defRPr>
            </a:pPr>
            <a:r>
              <a:rPr sz="3000" b="1">
                <a:solidFill>
                  <a:srgbClr val="F7F5F0"/>
                </a:solidFill>
              </a:rPr>
              <a:t>18,761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C47EF-5630-4139-8628-E6F3EA2D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ADDD7-C962-4140-BC26-118EE014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71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POPULATION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75B95-E41E-4F8D-A98C-580C4E1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765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8D597"/>
                </a:solidFill>
              </a:defRPr>
            </a:pPr>
            <a:r>
              <a:rPr sz="3000" b="1">
                <a:solidFill>
                  <a:srgbClr val="48D597"/>
                </a:solidFill>
              </a:rPr>
              <a:t>$127,717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F2C7A-01DC-4738-A26F-07E560B4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671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DA7BC-F7AF-4729-9457-7BB459C2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MEDIAN HOUSEHOLD INCOME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8D767-1F35-4DBC-9BBC-17AAEB5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D31A"/>
                </a:solidFill>
              </a:defRPr>
            </a:pPr>
            <a:r>
              <a:rPr sz="3000" b="1">
                <a:solidFill>
                  <a:srgbClr val="FFD31A"/>
                </a:solidFill>
              </a:rPr>
              <a:t>44.7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BAB63-1AC2-41D9-9484-CEE0B794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671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29AB3-AB92-4739-92BF-C7089F3D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MEDIAN 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EDBA7-A201-4F9F-9FAD-AB63E309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765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F7BFF"/>
                </a:solidFill>
              </a:defRPr>
            </a:pPr>
            <a:r>
              <a:rPr sz="3000" b="1">
                <a:solidFill>
                  <a:srgbClr val="2F7BFF"/>
                </a:solidFill>
              </a:rPr>
              <a:t>41.2%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E7EB3-791F-4285-8C5C-06B96539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671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745AB-EF60-400A-8FD4-90F80116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71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LANGUAGE OTHER THAN ENGLISH AT HOME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4DBBA-79E4-4454-AD99-5B44A252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05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B0111-A4D8-4A4F-AD15-F9FF008B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5F0"/>
                </a:solidFill>
              </a:defRPr>
            </a:pPr>
            <a:r>
              <a:rPr sz="1950" b="1">
                <a:solidFill>
                  <a:srgbClr val="F7F5F0"/>
                </a:solidFill>
              </a:rPr>
              <a:t>Build for more than one life stage and more than one cultural beauty norm—then distribute those perspectives across enough posts to remain specific.</a:t>
            </a:r>
          </a:p>
        </p:txBody>
      </p:sp>
    </p:spTree>
    <p:extLst>
      <p:ext uri="{BB962C8B-B14F-4D97-AF65-F5344CB8AC3E}">
        <p14:creationId xmlns:p14="http://schemas.microsoft.com/office/powerpoint/2010/main" val="1974221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732B9-B6E8-4FAE-9B45-422AE07A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39EDF-E589-4827-B46B-528DF96A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AGE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6EF07-CBF8-4D42-805D-82CF3AB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B044E-E1E4-47DD-B57E-40D6F2E9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D4C3F-215B-4A4A-A990-4864BAFF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THREE AGE GROUPS—NOT ONE GENERIC BEAUTY AUDIENCE.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DD34A-07EA-4EDB-88A0-11577FA6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5F0"/>
                </a:solidFill>
              </a:defRPr>
            </a:pPr>
            <a:r>
              <a:rPr sz="3450" b="1">
                <a:solidFill>
                  <a:srgbClr val="F7F5F0"/>
                </a:solidFill>
              </a:rPr>
              <a:t>Regional age composition informs media weight; campaign targets remain Teens 16–19, Adults 20s–30s, Mature 40s–50+.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63EF2-ABAB-47EC-B6B2-B4BC8BA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65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5F0"/>
                </a:solidFill>
              </a:defRPr>
            </a:pPr>
            <a:r>
              <a:rPr sz="1350" b="1">
                <a:solidFill>
                  <a:srgbClr val="F7F5F0"/>
                </a:solidFill>
              </a:rPr>
              <a:t>UNDER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746F2-356B-4499-824F-3575A3E0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05125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04CB1-2F6D-47D2-9C16-38D462A0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05125"/>
            <a:ext cx="194854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FA946-3AB4-42E7-A707-2A145817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765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31A"/>
                </a:solidFill>
              </a:defRPr>
            </a:pPr>
            <a:r>
              <a:rPr sz="1650" b="1">
                <a:solidFill>
                  <a:srgbClr val="FFD31A"/>
                </a:solidFill>
              </a:rPr>
              <a:t>17.9%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B5E99-D8A7-4D9F-A7EF-399160D2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76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7A7"/>
                </a:solidFill>
              </a:defRPr>
            </a:pPr>
            <a:r>
              <a:rPr sz="975" b="1">
                <a:solidFill>
                  <a:srgbClr val="A7A7A7"/>
                </a:solidFill>
              </a:rPr>
              <a:t>TEENS 16–19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0A541-1294-4E19-8182-AAB6EA9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766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5F0"/>
                </a:solidFill>
              </a:defRPr>
            </a:pPr>
            <a:r>
              <a:rPr sz="1350" b="1">
                <a:solidFill>
                  <a:srgbClr val="F7F5F0"/>
                </a:solidFill>
              </a:rPr>
              <a:t>18–64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97E02-2770-41AD-9F14-6C91CBD8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9A431-42DD-40EA-857A-F9D71EB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653142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7DD63-4069-4BB4-B272-623C5DF2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766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344"/>
                </a:solidFill>
              </a:defRPr>
            </a:pPr>
            <a:r>
              <a:rPr sz="1650" b="1">
                <a:solidFill>
                  <a:srgbClr val="FF3344"/>
                </a:solidFill>
              </a:rPr>
              <a:t>60.0%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32728-0D03-48A3-9CD3-8F94592D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766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7A7"/>
                </a:solidFill>
              </a:defRPr>
            </a:pPr>
            <a:r>
              <a:rPr sz="975" b="1">
                <a:solidFill>
                  <a:srgbClr val="A7A7A7"/>
                </a:solidFill>
              </a:rPr>
              <a:t>ADULTS 20s–30s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313D5-83BA-4445-B1EC-549A2B58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5F0"/>
                </a:solidFill>
              </a:defRPr>
            </a:pPr>
            <a:r>
              <a:rPr sz="1350" b="1">
                <a:solidFill>
                  <a:srgbClr val="F7F5F0"/>
                </a:solidFill>
              </a:rPr>
              <a:t>65+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651C0-05E1-4F50-B64B-D1A63E4F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A83CE-BB07-488C-9C9B-54B1AFA5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232954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A2702-F0D9-4FC0-9A38-26E025D4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768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BFF"/>
                </a:solidFill>
              </a:defRPr>
            </a:pPr>
            <a:r>
              <a:rPr sz="1650" b="1">
                <a:solidFill>
                  <a:srgbClr val="2F7BFF"/>
                </a:solidFill>
              </a:rPr>
              <a:t>21.4%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BBA06-B349-4899-A9B3-1C92E19B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76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A7A7"/>
                </a:solidFill>
              </a:defRPr>
            </a:pPr>
            <a:r>
              <a:rPr sz="975" b="1">
                <a:solidFill>
                  <a:srgbClr val="A7A7A7"/>
                </a:solidFill>
              </a:rPr>
              <a:t>MATURE 40s–50+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11E36-5FF6-42C9-9E44-2DB17C8B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81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BFF"/>
                </a:solidFill>
              </a:defRPr>
            </a:pPr>
            <a:r>
              <a:rPr sz="1050" b="1">
                <a:solidFill>
                  <a:srgbClr val="2F7BFF"/>
                </a:solidFill>
              </a:rPr>
              <a:t>MEN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AC5E1-9596-4982-AB7A-35B1752F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436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0"/>
                </a:solidFill>
              </a:defRPr>
            </a:pPr>
            <a:r>
              <a:rPr sz="1425" b="1">
                <a:solidFill>
                  <a:srgbClr val="F7F5F0"/>
                </a:solidFill>
              </a:rPr>
              <a:t>Cross-cutting creative within all three age groups—not a fourth age category.</a:t>
            </a:r>
          </a:p>
        </p:txBody>
      </p:sp>
    </p:spTree>
    <p:extLst>
      <p:ext uri="{BB962C8B-B14F-4D97-AF65-F5344CB8AC3E}">
        <p14:creationId xmlns:p14="http://schemas.microsoft.com/office/powerpoint/2010/main" val="749583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0A737-86B2-498C-87BF-D004E622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9481A-B39D-47A9-9A33-59CB35B9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CULTURAL AUDIENCE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65FD9-9EB0-4117-B139-0BFF6E87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9A854-05FA-448F-8941-DC38120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EE33C-CC69-4F6B-87A8-169FFEC1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GEOGRAPHY SHAPES THE CREATIVE LANES.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BABDB-F206-4889-BC31-DADA6F7F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5F0"/>
                </a:solidFill>
              </a:defRPr>
            </a:pPr>
            <a:r>
              <a:rPr sz="3450" b="1">
                <a:solidFill>
                  <a:srgbClr val="F7F5F0"/>
                </a:solidFill>
              </a:rPr>
              <a:t>Approximate local shares show why audience specificity must be accumulated across the campaign.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16A92-35E0-46FD-925B-8E4F87D2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5F0"/>
                </a:solidFill>
              </a:defRPr>
            </a:pPr>
            <a:r>
              <a:rPr sz="1350" b="1">
                <a:solidFill>
                  <a:srgbClr val="F7F5F0"/>
                </a:solidFill>
              </a:rPr>
              <a:t>WHITE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D4E0D-4825-46D5-8364-B2537EC5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43200"/>
            <a:ext cx="7143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7B987-54AA-4D41-937E-ADC5FDD3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43200"/>
            <a:ext cx="632732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C314F-2344-49F8-A5C4-DB7F6FD3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05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31%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BF4C0-DDA7-4BCE-AC62-E01C6B21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5F0"/>
                </a:solidFill>
              </a:defRPr>
            </a:pPr>
            <a:r>
              <a:rPr sz="1350" b="1">
                <a:solidFill>
                  <a:srgbClr val="F7F5F0"/>
                </a:solidFill>
              </a:rPr>
              <a:t>HISPANIC / LATINO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EF2C6-ABD9-43DA-91AF-6A100D55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24250"/>
            <a:ext cx="7143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13E2A-C7BC-4603-82CF-BEECFF4F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24250"/>
            <a:ext cx="5919107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E562A-5CEA-4142-87B5-A0971A37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86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344"/>
                </a:solidFill>
              </a:defRPr>
            </a:pPr>
            <a:r>
              <a:rPr sz="1650" b="1">
                <a:solidFill>
                  <a:srgbClr val="FF3344"/>
                </a:solidFill>
              </a:rPr>
              <a:t>29%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2E650-29EC-4597-A61B-565317F3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5F0"/>
                </a:solidFill>
              </a:defRPr>
            </a:pPr>
            <a:r>
              <a:rPr sz="1350" b="1">
                <a:solidFill>
                  <a:srgbClr val="F7F5F0"/>
                </a:solidFill>
              </a:rPr>
              <a:t>ASIAN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213A2-B06D-4837-9E34-01084D4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05300"/>
            <a:ext cx="7143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CE3A9-A0C8-4A31-949F-0F15D0DD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05300"/>
            <a:ext cx="571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7352E-6296-4E79-847F-B3B29466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31A"/>
                </a:solidFill>
              </a:defRPr>
            </a:pPr>
            <a:r>
              <a:rPr sz="1650" b="1">
                <a:solidFill>
                  <a:srgbClr val="FFD31A"/>
                </a:solidFill>
              </a:rPr>
              <a:t>28%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683AF-2E2B-4B32-AFD8-86D47B3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48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5F0"/>
                </a:solidFill>
              </a:defRPr>
            </a:pPr>
            <a:r>
              <a:rPr sz="1350" b="1">
                <a:solidFill>
                  <a:srgbClr val="F7F5F0"/>
                </a:solidFill>
              </a:rPr>
              <a:t>BLACK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603E4-BC6E-4A8D-8F94-03133CDC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86350"/>
            <a:ext cx="7143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BB4FB-CD82-4F02-8C0F-D5369645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86350"/>
            <a:ext cx="204107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7D6B3-6DAA-47F9-B123-D213D201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48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BFF"/>
                </a:solidFill>
              </a:defRPr>
            </a:pPr>
            <a:r>
              <a:rPr sz="1650" b="1">
                <a:solidFill>
                  <a:srgbClr val="2F7BFF"/>
                </a:solidFill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4C30A-17AF-45A1-871B-9CDE7BC4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7A7"/>
                </a:solidFill>
              </a:defRPr>
            </a:pPr>
            <a:r>
              <a:rPr sz="975" b="1">
                <a:solidFill>
                  <a:srgbClr val="A7A7A7"/>
                </a:solidFill>
              </a:rPr>
              <a:t>CREATIVE LANES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6D8F5-73A1-4C69-ACA9-D4A7118B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483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</a:defRPr>
            </a:pPr>
            <a:r>
              <a:rPr sz="1275" b="1">
                <a:solidFill>
                  <a:srgbClr val="F7F5F0"/>
                </a:solidFill>
              </a:rPr>
              <a:t>African / Black diaspora  •  Latin American / Caribbean  •  East, Southeast + South Asian  •  European / Mediterranean / MENA</a:t>
            </a:r>
          </a:p>
        </p:txBody>
      </p:sp>
    </p:spTree>
    <p:extLst>
      <p:ext uri="{BB962C8B-B14F-4D97-AF65-F5344CB8AC3E}">
        <p14:creationId xmlns:p14="http://schemas.microsoft.com/office/powerpoint/2010/main" val="752518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CC2188-9EE6-43A0-9A0B-7B3871F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F6528-51E1-48AB-BE9D-A5E6106E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INCLUSION THROUGH QUANTITY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EB6E-612E-4F84-8559-4DC24B4E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F47D7-A2F0-45B1-9F4C-D414D3F3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098F2-FD3C-4A51-8CAE-1EE57165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858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TWELVE AUDIENCE CELLS. ONE ACCUMULATED BRAND.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28DE5-DD89-4809-B02C-BB667E7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5F0"/>
                </a:solidFill>
              </a:defRPr>
            </a:pPr>
            <a:r>
              <a:rPr sz="3000" b="1">
                <a:solidFill>
                  <a:srgbClr val="F7F5F0"/>
                </a:solidFill>
              </a:rPr>
              <a:t>Each asset can be sharp, culturally specific and</a:t>
            </a:r>
          </a:p>
          <a:p xmlns:a="http://schemas.openxmlformats.org/drawingml/2006/main">
            <a:pPr algn="l">
              <a:defRPr sz="3000" b="1">
                <a:solidFill>
                  <a:srgbClr val="F7F5F0"/>
                </a:solidFill>
              </a:defRPr>
            </a:pPr>
            <a:r>
              <a:rPr sz="3000" b="1">
                <a:solidFill>
                  <a:srgbClr val="F7F5F0"/>
                </a:solidFill>
              </a:rPr>
              <a:t>conversion-minded because the portfolio carries</a:t>
            </a:r>
          </a:p>
          <a:p xmlns:a="http://schemas.openxmlformats.org/drawingml/2006/main">
            <a:pPr algn="l">
              <a:defRPr sz="3000" b="1">
                <a:solidFill>
                  <a:srgbClr val="F7F5F0"/>
                </a:solidFill>
              </a:defRPr>
            </a:pPr>
            <a:r>
              <a:rPr sz="3000" b="1">
                <a:solidFill>
                  <a:srgbClr val="F7F5F0"/>
                </a:solidFill>
              </a:rPr>
              <a:t>the diversity.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A7EB9-00F3-4F07-88CA-CD81952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BFF"/>
                </a:solidFill>
              </a:defRPr>
            </a:pPr>
            <a:r>
              <a:rPr sz="975" b="1">
                <a:solidFill>
                  <a:srgbClr val="2F7BFF"/>
                </a:solidFill>
              </a:rPr>
              <a:t>BLACK DIASPORA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56196-DB04-45F2-8B60-8E1B40D7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3344"/>
                </a:solidFill>
              </a:defRPr>
            </a:pPr>
            <a:r>
              <a:rPr sz="975" b="1">
                <a:solidFill>
                  <a:srgbClr val="FF3344"/>
                </a:solidFill>
              </a:rPr>
              <a:t>LATIN / CARIBBEAN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0575F-5D94-4908-9B8E-E49540DD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D31A"/>
                </a:solidFill>
              </a:defRPr>
            </a:pPr>
            <a:r>
              <a:rPr sz="975" b="1">
                <a:solidFill>
                  <a:srgbClr val="FFD31A"/>
                </a:solidFill>
              </a:rPr>
              <a:t>ASIAN REGIONS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24D28-8F6B-43DE-9DF5-E42FEEF8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5F0"/>
                </a:solidFill>
              </a:defRPr>
            </a:pPr>
            <a:r>
              <a:rPr sz="975" b="1">
                <a:solidFill>
                  <a:srgbClr val="F7F5F0"/>
                </a:solidFill>
              </a:rPr>
              <a:t>MED / MENA / EUROPE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E0A3D-1D75-4B1E-83A1-2479DC8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861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</a:defRPr>
            </a:pPr>
            <a:r>
              <a:rPr sz="1275" b="1">
                <a:solidFill>
                  <a:srgbClr val="F7F5F0"/>
                </a:solidFill>
              </a:rPr>
              <a:t>TEENS 16–19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1563E-7BE1-4271-A59F-C0A143D2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908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2F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2D959-B6A4-4643-8C57-51A4204B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Texture +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3DE0B-EBC9-4D01-8A1B-7DCCCC12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F33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5F474-7E3F-4C5E-86CF-3CD0CCDB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0515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Ritual + 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EFFE2-D155-4AAF-B775-A50FE8BF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FD3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13561-F3AB-4C42-A57B-FECFFB9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Technique + care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EDC54-D4FD-47A5-8288-0CD3AE14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7F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0FDA4-0A3B-4858-A477-9FBB9E71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0515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Maintenance + health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43B20-938E-4A4B-82E0-9D8D3094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814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</a:defRPr>
            </a:pPr>
            <a:r>
              <a:rPr sz="1275" b="1">
                <a:solidFill>
                  <a:srgbClr val="F7F5F0"/>
                </a:solidFill>
              </a:rPr>
              <a:t>ADULTS 20s–30s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9FE65-D035-4019-9920-839A4D12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8620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2F7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D5D35-3645-459F-83A1-81EC9A49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0050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Texture + 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0BD1A-DAB6-410D-87BC-BC4D71D0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F33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4A980-6C55-424D-B5C1-7A74AB0B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0050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Ritual + visibility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E7C8E-1325-4494-9A01-4F11BA79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8620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FD3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46206-D4D6-4D65-B312-F3EF6E16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Technique + care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519B4-51AC-47D4-8074-E21424A8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7F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2484C-E043-411B-BFB1-57CD382F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0050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Maintenance + health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BF500D-E25F-490A-B8D5-3CFB20A6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</a:defRPr>
            </a:pPr>
            <a:r>
              <a:rPr sz="1275" b="1">
                <a:solidFill>
                  <a:srgbClr val="F7F5F0"/>
                </a:solidFill>
              </a:rPr>
              <a:t>MATURE 40s–50+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0DCEA-8F76-461F-AED6-8AA63170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815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2F7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FD7CD-BF11-41C5-BD56-9D3C57D4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9585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Texture + confidence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B34DA-C46B-4E93-9048-0B06AAB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F33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EDFAAB-2728-47CB-BC9B-1927AF37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9585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Ritual + visibility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22AD65-8F81-4187-AEBC-3455CC98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815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FD31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BEEA33-C0AD-4198-BB44-059DF404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9585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Technique + care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8591EF-24A9-4B8D-9C96-F9FA3C7A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815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7F5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908204-2AE5-4B26-A2CA-BF04AB6F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895850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Maintenance + health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CBDF16-51E1-497A-BEB0-E7E9C19D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BFF"/>
                </a:solidFill>
              </a:defRPr>
            </a:pPr>
            <a:r>
              <a:rPr sz="1275" b="1">
                <a:solidFill>
                  <a:srgbClr val="2F7BFF"/>
                </a:solidFill>
              </a:rPr>
              <a:t>MEN APPEAR INSIDE EACH ROW WHERE THE SERVICE, skin concern and cultural context are real.</a:t>
            </a:r>
          </a:p>
        </p:txBody>
      </p:sp>
    </p:spTree>
    <p:extLst>
      <p:ext uri="{BB962C8B-B14F-4D97-AF65-F5344CB8AC3E}">
        <p14:creationId xmlns:p14="http://schemas.microsoft.com/office/powerpoint/2010/main" val="1465717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C04AF3-6250-4718-AD93-DCA1DB41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2D728-C8DC-46EA-B98C-709008F1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OFFER ECONOMICS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721AF-1364-412F-8700-F879AE1E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1A12A-6BA2-4113-A6EC-517C3221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4795F-BE9A-4E96-A61E-0C7FBDE3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CONTENT HAS A JOB AT EVERY 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BB29A-B87F-43B8-ADE2-F6E608BA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5F0"/>
                </a:solidFill>
              </a:defRPr>
            </a:pPr>
            <a:r>
              <a:rPr sz="3450" b="1">
                <a:solidFill>
                  <a:srgbClr val="F7F5F0"/>
                </a:solidFill>
              </a:rPr>
              <a:t>The first creative earns the pause. The system earns the repeat visit.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54F12-5A60-4F76-B2C3-2151E392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1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344"/>
                </a:solidFill>
              </a:defRPr>
            </a:pPr>
            <a:r>
              <a:rPr sz="975" b="1">
                <a:solidFill>
                  <a:srgbClr val="FF334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006CC-94EE-457E-916F-DB5805F2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05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7E50E-8A63-4F9D-B437-030106CA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5F0"/>
                </a:solidFill>
              </a:defRPr>
            </a:pPr>
            <a:r>
              <a:rPr sz="1800" b="1">
                <a:solidFill>
                  <a:srgbClr val="F7F5F0"/>
                </a:solidFill>
              </a:rPr>
              <a:t>STOP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6F0FF-8208-478A-A6A5-D0CA7ABE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7A7"/>
                </a:solidFill>
              </a:defRPr>
            </a:pPr>
            <a:r>
              <a:rPr sz="975" b="1">
                <a:solidFill>
                  <a:srgbClr val="A7A7A7"/>
                </a:solidFill>
              </a:rPr>
              <a:t>3-SECOND 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10D15-BFE7-44E2-BF8E-F89E6643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1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344"/>
                </a:solidFill>
              </a:defRPr>
            </a:pPr>
            <a:r>
              <a:rPr sz="975" b="1">
                <a:solidFill>
                  <a:srgbClr val="FF334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87E5E-3AF1-43D8-9259-8086888C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4B00F-6327-4260-AA62-1DE3D89C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5F0"/>
                </a:solidFill>
              </a:defRPr>
            </a:pPr>
            <a:r>
              <a:rPr sz="1800" b="1">
                <a:solidFill>
                  <a:srgbClr val="F7F5F0"/>
                </a:solidFill>
              </a:rPr>
              <a:t>ENGAGE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D3DDF-ED20-4CE2-9464-C32B250F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7A7"/>
                </a:solidFill>
              </a:defRPr>
            </a:pPr>
            <a:r>
              <a:rPr sz="975" b="1">
                <a:solidFill>
                  <a:srgbClr val="A7A7A7"/>
                </a:solidFill>
              </a:rPr>
              <a:t>LIKE • COMMENT •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80399-47EA-4579-BA94-5793D6B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BFF"/>
                </a:solidFill>
              </a:defRPr>
            </a:pPr>
            <a:r>
              <a:rPr sz="975" b="1">
                <a:solidFill>
                  <a:srgbClr val="2F7B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1B68C-9E6B-4F41-ACEB-CDE9DD6E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362FC-E3A8-4079-8108-8CB0CC62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5F0"/>
                </a:solidFill>
              </a:defRPr>
            </a:pPr>
            <a:r>
              <a:rPr sz="1800" b="1">
                <a:solidFill>
                  <a:srgbClr val="F7F5F0"/>
                </a:solidFill>
              </a:rPr>
              <a:t>CONSIDER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8B66E-AEFB-45BE-9D65-BB77E2C0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7A7"/>
                </a:solidFill>
              </a:defRPr>
            </a:pPr>
            <a:r>
              <a:rPr sz="975" b="1">
                <a:solidFill>
                  <a:srgbClr val="A7A7A7"/>
                </a:solidFill>
              </a:rPr>
              <a:t>DM • PROFILE • OFFER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8D925-1F7A-4B14-A536-DF2AE0ED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1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BFF"/>
                </a:solidFill>
              </a:defRPr>
            </a:pPr>
            <a:r>
              <a:rPr sz="975" b="1">
                <a:solidFill>
                  <a:srgbClr val="2F7B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221E8-F957-4703-8F70-1A6412DE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8EEDF-6F5E-409B-83BC-209147DA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48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5F0"/>
                </a:solidFill>
              </a:defRPr>
            </a:pPr>
            <a:r>
              <a:rPr sz="1800" b="1">
                <a:solidFill>
                  <a:srgbClr val="F7F5F0"/>
                </a:solidFill>
              </a:rPr>
              <a:t>CONVERT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58508-D4C9-4093-B34A-9C3A142B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7A7"/>
                </a:solidFill>
              </a:defRPr>
            </a:pPr>
            <a:r>
              <a:rPr sz="975" b="1">
                <a:solidFill>
                  <a:srgbClr val="A7A7A7"/>
                </a:solidFill>
              </a:rPr>
              <a:t>FIRST APPOINTMENT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CBBCB-C827-440D-8BC7-A88D7584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1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BFF"/>
                </a:solidFill>
              </a:defRPr>
            </a:pPr>
            <a:r>
              <a:rPr sz="975" b="1">
                <a:solidFill>
                  <a:srgbClr val="2F7B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2D227-F586-48D8-B1D9-71231992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05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7F1BE-C49E-4982-B1AA-F3127B31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5F0"/>
                </a:solidFill>
              </a:defRPr>
            </a:pPr>
            <a:r>
              <a:rPr sz="1800" b="1">
                <a:solidFill>
                  <a:srgbClr val="F7F5F0"/>
                </a:solidFill>
              </a:rPr>
              <a:t>RETAIN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3842C-D6C9-4637-BE30-2B5F47BE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A7A7"/>
                </a:solidFill>
              </a:defRPr>
            </a:pPr>
            <a:r>
              <a:rPr sz="975" b="1">
                <a:solidFill>
                  <a:srgbClr val="A7A7A7"/>
                </a:solidFill>
              </a:rPr>
              <a:t>MEMBERSHIP • PRODUCT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B1C6D-79E3-42B6-916E-33C117FA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38625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E5413-78E9-4BC5-9642-E10D364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243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5F0"/>
                </a:solidFill>
              </a:defRPr>
            </a:pPr>
            <a:r>
              <a:rPr sz="3000" b="1">
                <a:solidFill>
                  <a:srgbClr val="F7F5F0"/>
                </a:solidFill>
              </a:rPr>
              <a:t>$150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B52B3D-4F74-4A34-9442-C340E4A3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149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50D4DC-04DF-4E5A-9203-9F796DB7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STATED GLASS SKIN VALUE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04CCF8-01DE-4A3D-9856-59422DE7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43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3344"/>
                </a:solidFill>
              </a:defRPr>
            </a:pPr>
            <a:r>
              <a:rPr sz="3000" b="1">
                <a:solidFill>
                  <a:srgbClr val="FF3344"/>
                </a:solidFill>
              </a:rPr>
              <a:t>$69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3B85E9-F7E8-472F-A4AB-115974D1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149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8C263-76EE-4485-992C-6EE9A421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19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FIRST-TIME PRICE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6E4B26-35F8-4DEA-9094-CE923875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243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D31A"/>
                </a:solidFill>
              </a:defRPr>
            </a:pPr>
            <a:r>
              <a:rPr sz="3000" b="1">
                <a:solidFill>
                  <a:srgbClr val="FFD31A"/>
                </a:solidFill>
              </a:rPr>
              <a:t>$30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BD94B8-E6CE-4827-8DB2-D3F8D894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149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02800B-4913-4C79-A5DA-D28392C2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ILLUSTRATIVE COST / CUSTOMER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9900EF-489E-477C-99F5-3613295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243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F7BFF"/>
                </a:solidFill>
              </a:defRPr>
            </a:pPr>
            <a:r>
              <a:rPr sz="3000" b="1">
                <a:solidFill>
                  <a:srgbClr val="2F7BFF"/>
                </a:solidFill>
              </a:rPr>
              <a:t>$120/mo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967094-A938-44C3-A570-BCCD8CDA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1149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F750F-E644-45D7-93E7-AD0D5656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19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ILLUSTRATIVE MEMBERSHIP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21A397-8CC7-4BD4-9357-7899B287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A7A7"/>
                </a:solidFill>
              </a:defRPr>
            </a:pPr>
            <a:r>
              <a:rPr sz="825" b="1">
                <a:solidFill>
                  <a:srgbClr val="A7A7A7"/>
                </a:solidFill>
              </a:rPr>
              <a:t>MODEL INPUT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3BE485-C839-4975-8578-3DB55E04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153150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40% illustrative conversion—not measured campaign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59676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3047F-8BE4-4F99-B6BC-D65A0D0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F97BE-1394-4777-AA67-97E7A47E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REAL AD / TEENS 16–19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5EC93-F990-4638-91FC-7FC2499E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19F94-8309-4D31-905D-BF804EAD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B4238-3338-4966-A4D0-38EE6668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19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31A"/>
                </a:solidFill>
              </a:defRPr>
            </a:pPr>
            <a:r>
              <a:rPr sz="1200" b="1">
                <a:solidFill>
                  <a:srgbClr val="FFD31A"/>
                </a:solidFill>
              </a:rPr>
              <a:t>YEARBOOK CONFIDENCE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F18FD-709F-4DB4-AC90-CD90E635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3825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5F0"/>
                </a:solidFill>
              </a:defRPr>
            </a:pPr>
            <a:r>
              <a:rPr sz="2175" b="1">
                <a:solidFill>
                  <a:srgbClr val="F7F5F0"/>
                </a:solidFill>
              </a:rPr>
              <a:t>MOST LIKELY TO STOP</a:t>
            </a:r>
          </a:p>
          <a:p xmlns:a="http://schemas.openxmlformats.org/drawingml/2006/main">
            <a:pPr algn="l">
              <a:defRPr sz="2175" b="1">
                <a:solidFill>
                  <a:srgbClr val="F7F5F0"/>
                </a:solidFill>
              </a:defRPr>
            </a:pPr>
            <a:r>
              <a:rPr sz="2175" b="1">
                <a:solidFill>
                  <a:srgbClr val="F7F5F0"/>
                </a:solidFill>
              </a:rPr>
              <a:t>HIDING FROM FLASH.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F4C2C-4DBD-4CD3-AFDB-DBC9DB55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BE2A2-00B4-4C9E-88EC-AC10D298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5F0"/>
                </a:solidFill>
              </a:defRPr>
            </a:pPr>
            <a:r>
              <a:rPr sz="1500" b="1">
                <a:solidFill>
                  <a:srgbClr val="F7F5F0"/>
                </a:solidFill>
              </a:rPr>
              <a:t>Portrait proof + identity language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CBFF7-E1FA-4E86-9CFE-BD18E879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recognizable school ritual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2915F-FAB5-4C42-BF2B-8CB7E5BF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tag or share with a friend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6B97D-2D10-4C21-9F6D-0F378FF0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clear-skin intake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FD7AD-9387-47DE-8B25-DCC105A0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72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31A"/>
                </a:solidFill>
              </a:defRPr>
            </a:pPr>
            <a:r>
              <a:rPr sz="900" b="1">
                <a:solidFill>
                  <a:srgbClr val="FFD31A"/>
                </a:solidFill>
              </a:rPr>
              <a:t>3-SECOND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6D31C-28C6-46E3-BFCD-19BCA106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293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</a:defRPr>
            </a:pPr>
            <a:r>
              <a:rPr sz="1275" b="1">
                <a:solidFill>
                  <a:srgbClr val="F7F5F0"/>
                </a:solidFill>
              </a:rPr>
              <a:t>Readable face • one tension • one action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7fbb5d7864c22"/>
          <a:srcRect xmlns:a="http://schemas.openxmlformats.org/drawingml/2006/main" l="0" t="26455" r="0" b="26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781050"/>
            <a:ext cx="6572250" cy="3867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78D8B-324B-4495-B232-8288B892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6572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A1F0E-4D6C-4F76-9AA6-67F09EBA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657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A6F08-F7D0-41D3-ABC4-4B77F086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5F0"/>
                </a:solidFill>
              </a:defRPr>
            </a:pPr>
            <a:r>
              <a:rPr sz="1950" b="1">
                <a:solidFill>
                  <a:srgbClr val="F7F5F0"/>
                </a:solidFill>
              </a:rPr>
              <a:t>MOST LIKELY TO STOP</a:t>
            </a:r>
          </a:p>
          <a:p xmlns:a="http://schemas.openxmlformats.org/drawingml/2006/main">
            <a:pPr algn="l">
              <a:defRPr sz="1950" b="1">
                <a:solidFill>
                  <a:srgbClr val="F7F5F0"/>
                </a:solidFill>
              </a:defRPr>
            </a:pPr>
            <a:r>
              <a:rPr sz="1950" b="1">
                <a:solidFill>
                  <a:srgbClr val="F7F5F0"/>
                </a:solidFill>
              </a:rPr>
              <a:t>HIDING FROM FLASH.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E6433-8879-4BFB-B052-70902F65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31A"/>
                </a:solidFill>
              </a:defRPr>
            </a:pPr>
            <a:r>
              <a:rPr sz="1125" b="1">
                <a:solidFill>
                  <a:srgbClr val="FFD31A"/>
                </a:solidFill>
              </a:rPr>
              <a:t>THE YEARBOOK / CONFIDENCE + BACK-TO-SCHOOL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4FC0A-DDA7-4F3B-8C95-5C0CD33B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E32A9-9DE6-4F62-9E18-8E85DD5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86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CLEAR SKIN INTAKE / PINOLE</a:t>
            </a:r>
          </a:p>
        </p:txBody>
      </p:sp>
    </p:spTree>
    <p:extLst>
      <p:ext uri="{BB962C8B-B14F-4D97-AF65-F5344CB8AC3E}">
        <p14:creationId xmlns:p14="http://schemas.microsoft.com/office/powerpoint/2010/main" val="62158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4FF21-614F-4175-8A5B-7278A6CC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269CC-C328-4C01-A6E1-E2DAB9D3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REAL AD / ADULTS 20S–30S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A61F2-C8D1-4BE1-86F0-87844D21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F2164-0C3F-4406-9339-FC2D154A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EDDA5-9A15-4765-8E31-2C1FBEE7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19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31A"/>
                </a:solidFill>
              </a:defRPr>
            </a:pPr>
            <a:r>
              <a:rPr sz="1200" b="1">
                <a:solidFill>
                  <a:srgbClr val="FFD31A"/>
                </a:solidFill>
              </a:rPr>
              <a:t>YELLOW POLKA DOT BIKINI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20A87-1B71-4AE9-8DD3-3F7144A8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3825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5F0"/>
                </a:solidFill>
              </a:defRPr>
            </a:pPr>
            <a:r>
              <a:rPr sz="2175" b="1">
                <a:solidFill>
                  <a:srgbClr val="F7F5F0"/>
                </a:solidFill>
              </a:rPr>
              <a:t>THE POOL PARTY IS</a:t>
            </a:r>
          </a:p>
          <a:p xmlns:a="http://schemas.openxmlformats.org/drawingml/2006/main">
            <a:pPr algn="l">
              <a:defRPr sz="2175" b="1">
                <a:solidFill>
                  <a:srgbClr val="F7F5F0"/>
                </a:solidFill>
              </a:defRPr>
            </a:pPr>
            <a:r>
              <a:rPr sz="2175" b="1">
                <a:solidFill>
                  <a:srgbClr val="F7F5F0"/>
                </a:solidFill>
              </a:rPr>
              <a:t>IN 6 HOURS.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FA036-62B0-4181-BEDD-AA8C0F27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41D33-D505-46A2-81F1-73958F07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5F0"/>
                </a:solidFill>
              </a:defRPr>
            </a:pPr>
            <a:r>
              <a:rPr sz="1500" b="1">
                <a:solidFill>
                  <a:srgbClr val="F7F5F0"/>
                </a:solidFill>
              </a:rPr>
              <a:t>Urgency without generic beauty copy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799F3-B04D-4CFE-86E1-5E4FDBB2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iconic color + time pressure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7CA01-D1E8-4019-B2BE-79C1CFDE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razor-versus-wax debate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D0648-6D68-4897-953D-4378B870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appointment-ready CTA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044F4-77F6-4203-A332-A2FA95F4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72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31A"/>
                </a:solidFill>
              </a:defRPr>
            </a:pPr>
            <a:r>
              <a:rPr sz="900" b="1">
                <a:solidFill>
                  <a:srgbClr val="FFD31A"/>
                </a:solidFill>
              </a:rPr>
              <a:t>3-SECOND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C3C5F-E5A2-4BC0-B5A1-A41DF46E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293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</a:defRPr>
            </a:pPr>
            <a:r>
              <a:rPr sz="1275" b="1">
                <a:solidFill>
                  <a:srgbClr val="F7F5F0"/>
                </a:solidFill>
              </a:rPr>
              <a:t>Readable face • one tension • one action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e149137f24970"/>
          <a:srcRect xmlns:a="http://schemas.openxmlformats.org/drawingml/2006/main" l="0" t="26455" r="0" b="26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781050"/>
            <a:ext cx="6572250" cy="3867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30F8B-E427-45CB-A4B6-3AD97458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6572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132D1-61E8-4EC7-B488-2BF80756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657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BDCF4-351D-441B-A948-38B1AB4A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5F0"/>
                </a:solidFill>
              </a:defRPr>
            </a:pPr>
            <a:r>
              <a:rPr sz="1950" b="1">
                <a:solidFill>
                  <a:srgbClr val="F7F5F0"/>
                </a:solidFill>
              </a:rPr>
              <a:t>THE POOL PARTY IS</a:t>
            </a:r>
          </a:p>
          <a:p xmlns:a="http://schemas.openxmlformats.org/drawingml/2006/main">
            <a:pPr algn="l">
              <a:defRPr sz="1950" b="1">
                <a:solidFill>
                  <a:srgbClr val="F7F5F0"/>
                </a:solidFill>
              </a:defRPr>
            </a:pPr>
            <a:r>
              <a:rPr sz="1950" b="1">
                <a:solidFill>
                  <a:srgbClr val="F7F5F0"/>
                </a:solidFill>
              </a:rPr>
              <a:t>IN 6 HOURS.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41D4D-F753-4E22-A9A8-98C6126F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31A"/>
                </a:solidFill>
              </a:defRPr>
            </a:pPr>
            <a:r>
              <a:rPr sz="1125" b="1">
                <a:solidFill>
                  <a:srgbClr val="FFD31A"/>
                </a:solidFill>
              </a:rPr>
              <a:t>THROW AWAY THE RAZOR.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6F137-3E40-4A3C-B644-1E3C02E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C816F-C620-4B18-9FE6-012FB1CE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86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BOOK AMBER / EAST BAY WAXING</a:t>
            </a:r>
          </a:p>
        </p:txBody>
      </p:sp>
    </p:spTree>
    <p:extLst>
      <p:ext uri="{BB962C8B-B14F-4D97-AF65-F5344CB8AC3E}">
        <p14:creationId xmlns:p14="http://schemas.microsoft.com/office/powerpoint/2010/main" val="1614523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49BFB-A69E-4BCA-8696-BD295915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8E651-F1D2-4AF4-B7CB-16AD9E4E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REAL AD / MEN / ADULT CROSS-CUT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30104-4EBD-461B-853A-B18B7297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01664-EBCE-4781-89AE-27F314E7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08F5F-81D5-4318-8D43-8CE88983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19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BFF"/>
                </a:solidFill>
              </a:defRPr>
            </a:pPr>
            <a:r>
              <a:rPr sz="1200" b="1">
                <a:solidFill>
                  <a:srgbClr val="2F7BFF"/>
                </a:solidFill>
              </a:rPr>
              <a:t>EXECUTIVE RESET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FFC60-64DB-41DD-BD7D-E7373BBE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3825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5F0"/>
                </a:solidFill>
              </a:defRPr>
            </a:pPr>
            <a:r>
              <a:rPr sz="2175" b="1">
                <a:solidFill>
                  <a:srgbClr val="F7F5F0"/>
                </a:solidFill>
              </a:rPr>
              <a:t>YOUR BARBER CANNOT FIX WHAT</a:t>
            </a:r>
          </a:p>
          <a:p xmlns:a="http://schemas.openxmlformats.org/drawingml/2006/main">
            <a:pPr algn="l">
              <a:defRPr sz="2175" b="1">
                <a:solidFill>
                  <a:srgbClr val="F7F5F0"/>
                </a:solidFill>
              </a:defRPr>
            </a:pPr>
            <a:r>
              <a:rPr sz="2175" b="1">
                <a:solidFill>
                  <a:srgbClr val="F7F5F0"/>
                </a:solidFill>
              </a:rPr>
              <a:t>THE RAZOR KEEPS PUTTING 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914E8-45FA-4631-963A-E8A8E331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5BB5B-7323-40F6-AC65-D886FDAC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5F0"/>
                </a:solidFill>
              </a:defRPr>
            </a:pPr>
            <a:r>
              <a:rPr sz="1500" b="1">
                <a:solidFill>
                  <a:srgbClr val="F7F5F0"/>
                </a:solidFill>
              </a:rPr>
              <a:t>Health-specific maintenance 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D6B87-6DCB-4BF8-981F-81211ACD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direct contradiction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D9476-63F9-4240-ACD4-AFCF8C62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grooming norm discussion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6E4BB-F58B-4CEB-AE0D-2505DEC7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recurring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49276-6CAF-4514-91FE-9ABBCFB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72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BFF"/>
                </a:solidFill>
              </a:defRPr>
            </a:pPr>
            <a:r>
              <a:rPr sz="900" b="1">
                <a:solidFill>
                  <a:srgbClr val="2F7BFF"/>
                </a:solidFill>
              </a:rPr>
              <a:t>3-SECOND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DA468-F235-4960-A84C-17323145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293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</a:defRPr>
            </a:pPr>
            <a:r>
              <a:rPr sz="1275" b="1">
                <a:solidFill>
                  <a:srgbClr val="F7F5F0"/>
                </a:solidFill>
              </a:rPr>
              <a:t>Readable face • one tension • one action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2d58ec32045ed"/>
          <a:srcRect xmlns:a="http://schemas.openxmlformats.org/drawingml/2006/main" l="0" t="26455" r="0" b="26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781050"/>
            <a:ext cx="6572250" cy="3867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AC7A1-F8D0-43C8-8383-5391E592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6572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E387B-CC8B-4B3B-A5CE-BA7BCD84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657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1582B-EBEB-440D-B51D-3405BA6D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5F0"/>
                </a:solidFill>
              </a:defRPr>
            </a:pPr>
            <a:r>
              <a:rPr sz="1950" b="1">
                <a:solidFill>
                  <a:srgbClr val="F7F5F0"/>
                </a:solidFill>
              </a:rPr>
              <a:t>YOUR BARBER CANNOT FIX WHAT</a:t>
            </a:r>
          </a:p>
          <a:p xmlns:a="http://schemas.openxmlformats.org/drawingml/2006/main">
            <a:pPr algn="l">
              <a:defRPr sz="1950" b="1">
                <a:solidFill>
                  <a:srgbClr val="F7F5F0"/>
                </a:solidFill>
              </a:defRPr>
            </a:pPr>
            <a:r>
              <a:rPr sz="1950" b="1">
                <a:solidFill>
                  <a:srgbClr val="F7F5F0"/>
                </a:solidFill>
              </a:rPr>
              <a:t>THE RAZOR KEEPS PUTTING BACK.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B2444-08A9-48E7-8364-4374A73F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BFF"/>
                </a:solidFill>
              </a:defRPr>
            </a:pPr>
            <a:r>
              <a:rPr sz="1125" b="1">
                <a:solidFill>
                  <a:srgbClr val="2F7BFF"/>
                </a:solidFill>
              </a:rPr>
              <a:t>EXECUTIVE RESET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0A114-0510-433A-970E-4E87516D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4FF71-D3C1-48D2-B312-984425BC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86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MONTHLY MAINTENANCE / PINOLE</a:t>
            </a:r>
          </a:p>
        </p:txBody>
      </p:sp>
    </p:spTree>
    <p:extLst>
      <p:ext uri="{BB962C8B-B14F-4D97-AF65-F5344CB8AC3E}">
        <p14:creationId xmlns:p14="http://schemas.microsoft.com/office/powerpoint/2010/main" val="200860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C6CED-EE2E-44A4-A0A3-66D700F2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D2865-10EA-4689-92B0-72514CCF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REAL AD / MATURE 40S–50+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E8632-C1AE-4461-B4EB-BACFB457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32DE6-A0F2-4938-BB21-B8DA1FC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E19F7-5803-45B4-B3B0-9451D2DA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19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344"/>
                </a:solidFill>
              </a:defRPr>
            </a:pPr>
            <a:r>
              <a:rPr sz="1200" b="1">
                <a:solidFill>
                  <a:srgbClr val="FF3344"/>
                </a:solidFill>
              </a:rPr>
              <a:t>RE-ESTABLISH THE PRIME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0ABBD-90E8-4B7D-A4C3-01172765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3825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5F0"/>
                </a:solidFill>
              </a:defRPr>
            </a:pPr>
            <a:r>
              <a:rPr sz="2175" b="1">
                <a:solidFill>
                  <a:srgbClr val="F7F5F0"/>
                </a:solidFill>
              </a:rPr>
              <a:t>RE-ESTABLISH</a:t>
            </a:r>
          </a:p>
          <a:p xmlns:a="http://schemas.openxmlformats.org/drawingml/2006/main">
            <a:pPr algn="l">
              <a:defRPr sz="2175" b="1">
                <a:solidFill>
                  <a:srgbClr val="F7F5F0"/>
                </a:solidFill>
              </a:defRPr>
            </a:pPr>
            <a:r>
              <a:rPr sz="2175" b="1">
                <a:solidFill>
                  <a:srgbClr val="F7F5F0"/>
                </a:solidFill>
              </a:rPr>
              <a:t>THE PRIME.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2EFA1-5790-4756-AB57-2E0E0B89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D90A2-59E0-4B60-9CAB-01AF04A0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5F0"/>
                </a:solidFill>
              </a:defRPr>
            </a:pPr>
            <a:r>
              <a:rPr sz="1500" b="1">
                <a:solidFill>
                  <a:srgbClr val="F7F5F0"/>
                </a:solidFill>
              </a:rPr>
              <a:t>Presence, ritual and re-entry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128A3-B646-48A4-8EAA-894B714E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elegant emotional reversal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79A99-5376-438E-93E9-DC476A6C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confidence 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20B0F-B99C-4D07-87AB-E424D7C6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7A7"/>
                </a:solidFill>
              </a:defRPr>
            </a:pPr>
            <a:r>
              <a:rPr sz="1125" b="1">
                <a:solidFill>
                  <a:srgbClr val="A7A7A7"/>
                </a:solidFill>
              </a:rPr>
              <a:t>— consultation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0C7BA-9EFA-428B-BDE3-1679A479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72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344"/>
                </a:solidFill>
              </a:defRPr>
            </a:pPr>
            <a:r>
              <a:rPr sz="900" b="1">
                <a:solidFill>
                  <a:srgbClr val="FF3344"/>
                </a:solidFill>
              </a:rPr>
              <a:t>3-SECOND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6B463-CCFE-4B69-BD11-489C6DC4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293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0"/>
                </a:solidFill>
              </a:defRPr>
            </a:pPr>
            <a:r>
              <a:rPr sz="1275" b="1">
                <a:solidFill>
                  <a:srgbClr val="F7F5F0"/>
                </a:solidFill>
              </a:rPr>
              <a:t>Readable face • one tension • one action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fb11940c64406"/>
          <a:srcRect xmlns:a="http://schemas.openxmlformats.org/drawingml/2006/main" l="0" t="26455" r="0" b="26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781050"/>
            <a:ext cx="6572250" cy="3867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E163A-285B-44FE-AA21-20F2E155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6572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3F9C8-8B5E-4C64-9184-1C33D59C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657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6A165-E396-43FD-953E-BAA4E333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5F0"/>
                </a:solidFill>
              </a:defRPr>
            </a:pPr>
            <a:r>
              <a:rPr sz="1950" b="1">
                <a:solidFill>
                  <a:srgbClr val="F7F5F0"/>
                </a:solidFill>
              </a:rPr>
              <a:t>RE-ESTABLISH</a:t>
            </a:r>
          </a:p>
          <a:p xmlns:a="http://schemas.openxmlformats.org/drawingml/2006/main">
            <a:pPr algn="l">
              <a:defRPr sz="1950" b="1">
                <a:solidFill>
                  <a:srgbClr val="F7F5F0"/>
                </a:solidFill>
              </a:defRPr>
            </a:pPr>
            <a:r>
              <a:rPr sz="1950" b="1">
                <a:solidFill>
                  <a:srgbClr val="F7F5F0"/>
                </a:solidFill>
              </a:rPr>
              <a:t>THE PRIME.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8BFF4-3E1E-4D81-9CC7-2B5BF1D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344"/>
                </a:solidFill>
              </a:defRPr>
            </a:pPr>
            <a:r>
              <a:rPr sz="1125" b="1">
                <a:solidFill>
                  <a:srgbClr val="FF3344"/>
                </a:solidFill>
              </a:rPr>
              <a:t>THE ROOM DIDN'T CHANGE. HER RITUAL DID.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A1C62-746C-4D43-B066-F67F845F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E107C-B32F-440A-BBB5-B80B0B5F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86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BLUEPRINT CONSULTATION</a:t>
            </a:r>
          </a:p>
        </p:txBody>
      </p:sp>
    </p:spTree>
    <p:extLst>
      <p:ext uri="{BB962C8B-B14F-4D97-AF65-F5344CB8AC3E}">
        <p14:creationId xmlns:p14="http://schemas.microsoft.com/office/powerpoint/2010/main" val="729842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BC425-D0B0-4916-979D-4AD282BA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E3069-3188-412D-8607-BCB9C53F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CONTENT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7E5B5-813D-466D-B570-3193D701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901EC-0417-48A0-8306-03A3E99B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AA46B-2BC8-4BA1-9F6B-E5776C90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FIVE CONTENT PILLARS DISTRIBUTE THE CAMPAIGN'S INTELLIGENCE.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789CC-DE70-44F1-9EC2-EDF75C7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5F0"/>
                </a:solidFill>
              </a:defRPr>
            </a:pPr>
            <a:r>
              <a:rPr sz="3450" b="1">
                <a:solidFill>
                  <a:srgbClr val="F7F5F0"/>
                </a:solidFill>
              </a:rPr>
              <a:t>The audience grid decides who. The pillar decides what the post does.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4D267-2A6F-472F-BA46-BF682D30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344"/>
                </a:solidFill>
              </a:defRPr>
            </a:pPr>
            <a:r>
              <a:rPr sz="975" b="1">
                <a:solidFill>
                  <a:srgbClr val="FF334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E55E6-6B7C-4E95-87F6-DEDB6EFF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F14DA-0211-4E57-86B6-67A28BC6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IDENTITY +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83C90-41D9-4668-8CE1-575AF60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6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BFF"/>
                </a:solidFill>
              </a:defRPr>
            </a:pPr>
            <a:r>
              <a:rPr sz="975" b="1">
                <a:solidFill>
                  <a:srgbClr val="2F7B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3007A-15D0-483B-9B77-595340BF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718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E63F7-7BAA-4608-9D13-E88FAD1E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SKIN + HAIR EDUCATION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F8B3C-E79E-4FFA-8DB4-F1119B48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31A"/>
                </a:solidFill>
              </a:defRPr>
            </a:pPr>
            <a:r>
              <a:rPr sz="975" b="1">
                <a:solidFill>
                  <a:srgbClr val="FFD31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E3E72-3928-45B8-87B0-0E2207DF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BDDCB-0742-4833-B70B-F1072ACC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SERVICE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03EAF-5B77-4D08-B4C1-93A2A619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5F0"/>
                </a:solidFill>
              </a:defRPr>
            </a:pPr>
            <a:r>
              <a:rPr sz="975" b="1">
                <a:solidFill>
                  <a:srgbClr val="F7F5F0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977A9-E693-4A74-A39E-B7721BD6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718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809E8-EE88-42F9-A116-A1B00104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43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COMMUNITY ENGAGEMENT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C8297-2A82-4951-B3DE-19E9D7B0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597"/>
                </a:solidFill>
              </a:defRPr>
            </a:pPr>
            <a:r>
              <a:rPr sz="975" b="1">
                <a:solidFill>
                  <a:srgbClr val="48D597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24EC6-91AE-42BD-BB4E-95CFCCC0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1D607-62E2-434C-B40B-3925EE52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OFFER + RETENTION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FF9CD-DC73-4EAE-9AC1-DD1B3935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86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WEEKLY ACCUMULATION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03505-A41E-4B0A-A536-116786C1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00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5F0"/>
                </a:solidFill>
              </a:defRPr>
            </a:pPr>
            <a:r>
              <a:rPr sz="2175" b="1">
                <a:solidFill>
                  <a:srgbClr val="F7F5F0"/>
                </a:solidFill>
              </a:rPr>
              <a:t>4 audience-specific posts  +  2 education/proof posts  +  1 offer post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76CD3-E7A3-4DC8-B05C-4260750D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816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344"/>
                </a:solidFill>
              </a:defRPr>
            </a:pPr>
            <a:r>
              <a:rPr sz="1500" b="1">
                <a:solidFill>
                  <a:srgbClr val="FF3344"/>
                </a:solidFill>
              </a:rPr>
              <a:t>The result is diversity in quantity, not diluted representation inside every execution.</a:t>
            </a:r>
          </a:p>
        </p:txBody>
      </p:sp>
    </p:spTree>
    <p:extLst>
      <p:ext uri="{BB962C8B-B14F-4D97-AF65-F5344CB8AC3E}">
        <p14:creationId xmlns:p14="http://schemas.microsoft.com/office/powerpoint/2010/main" val="533573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53FD10-98C4-488A-9BA4-0DA883B5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FAACC-618C-4CE7-8062-7D5A8EFA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PRODUCTION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3A9C2-B158-473D-B458-47F5555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B9725-60A5-4714-BCEF-5F582B3B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323D1-3EB2-4934-BFC7-747B2502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A REPEATABLE ENGINE—NOT FOUR ISOLATED 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628E3-D64D-499F-97A7-84B16B69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5F0"/>
                </a:solidFill>
              </a:defRPr>
            </a:pPr>
            <a:r>
              <a:rPr sz="3450" b="1">
                <a:solidFill>
                  <a:srgbClr val="F7F5F0"/>
                </a:solidFill>
              </a:rPr>
              <a:t>Create specificity at volume, learn from reaction, and amplify what earns attention.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5F78D-7E45-4418-8601-B086A4FC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F33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1A16E-5093-4346-92EB-F9F825F2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344"/>
                </a:solidFill>
              </a:defRPr>
            </a:pPr>
            <a:r>
              <a:rPr sz="975" b="1">
                <a:solidFill>
                  <a:srgbClr val="FF334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EA02-808A-4B6A-8468-4E5E4435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5F0"/>
                </a:solidFill>
              </a:defRPr>
            </a:pPr>
            <a:r>
              <a:rPr sz="1725" b="1">
                <a:solidFill>
                  <a:srgbClr val="F7F5F0"/>
                </a:solidFill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6730E-CD85-4E98-AB74-91C9C760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Client B-roll</a:t>
            </a:r>
          </a:p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texture • ritual •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52E60-62E1-41F9-9D29-A8106988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4766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5F0"/>
                </a:solidFill>
              </a:defRPr>
            </a:pPr>
            <a:r>
              <a:rPr sz="1800" b="1">
                <a:solidFill>
                  <a:srgbClr val="F7F5F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E2407-EB29-4F0B-8455-E2FE4E25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14625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2F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24E67-C15C-45A0-B808-99B8012B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57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BFF"/>
                </a:solidFill>
              </a:defRPr>
            </a:pPr>
            <a:r>
              <a:rPr sz="975" b="1">
                <a:solidFill>
                  <a:srgbClr val="2F7B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3B1EC-7174-43D2-BBC7-BF283F57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2385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5F0"/>
                </a:solidFill>
              </a:defRPr>
            </a:pPr>
            <a:r>
              <a:rPr sz="1725" b="1">
                <a:solidFill>
                  <a:srgbClr val="F7F5F0"/>
                </a:solidFill>
              </a:rPr>
              <a:t>BATCH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DAE59-8D5A-456C-8E28-B9650684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147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3-second hooks</a:t>
            </a:r>
          </a:p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multiple audience cells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10770-6ADC-4FE4-B0F4-9349DF80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766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5F0"/>
                </a:solidFill>
              </a:defRPr>
            </a:pPr>
            <a:r>
              <a:rPr sz="1800" b="1">
                <a:solidFill>
                  <a:srgbClr val="F7F5F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EC162-2246-41A1-8186-107A00C6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F33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AE4CB-7064-42EC-8822-4FA9F334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344"/>
                </a:solidFill>
              </a:defRPr>
            </a:pPr>
            <a:r>
              <a:rPr sz="975" b="1">
                <a:solidFill>
                  <a:srgbClr val="FF3344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9DB01-D9F6-4335-A4F4-E192DC9D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385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5F0"/>
                </a:solidFill>
              </a:defRPr>
            </a:pPr>
            <a:r>
              <a:rPr sz="1725" b="1">
                <a:solidFill>
                  <a:srgbClr val="F7F5F0"/>
                </a:solidFill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3D820-3570-4E4E-B847-C1158007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Organic posts</a:t>
            </a:r>
          </a:p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comments • shares • saves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5E4A1-351E-480B-A351-07A4833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766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5F0"/>
                </a:solidFill>
              </a:defRPr>
            </a:pPr>
            <a:r>
              <a:rPr sz="1800" b="1">
                <a:solidFill>
                  <a:srgbClr val="F7F5F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FE907-AAEB-4B26-BA74-D6F3FD5E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14625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2F7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5A26D-E8B7-4D40-9A37-4AC757B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57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BFF"/>
                </a:solidFill>
              </a:defRPr>
            </a:pPr>
            <a:r>
              <a:rPr sz="975" b="1">
                <a:solidFill>
                  <a:srgbClr val="2F7B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118EA-6E30-4FD2-B9D9-FB91BE04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385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5F0"/>
                </a:solidFill>
              </a:defRPr>
            </a:pPr>
            <a:r>
              <a:rPr sz="1725" b="1">
                <a:solidFill>
                  <a:srgbClr val="F7F5F0"/>
                </a:solidFill>
              </a:rPr>
              <a:t>AMPLIFY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69C9F-7849-4614-96C1-A6C2157B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147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Paid support</a:t>
            </a:r>
          </a:p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for proven winners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042CD-43F2-49ED-B559-8705FB68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766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5F0"/>
                </a:solidFill>
              </a:defRPr>
            </a:pPr>
            <a:r>
              <a:rPr sz="1800" b="1">
                <a:solidFill>
                  <a:srgbClr val="F7F5F0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08CA2-BA86-4F83-86A6-44AD8E05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19050">
            <a:solidFill>
              <a:srgbClr val="FF33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47242-B1D2-422F-83F1-6250D9A9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344"/>
                </a:solidFill>
              </a:defRPr>
            </a:pPr>
            <a:r>
              <a:rPr sz="975" b="1">
                <a:solidFill>
                  <a:srgbClr val="FF3344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45244B-67A0-4E3E-82C6-DCD5F782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385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5F0"/>
                </a:solidFill>
              </a:defRPr>
            </a:pPr>
            <a:r>
              <a:rPr sz="1725" b="1">
                <a:solidFill>
                  <a:srgbClr val="F7F5F0"/>
                </a:solidFill>
              </a:rPr>
              <a:t>RETAIN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B00A3A-EB3D-43F9-A40C-8308E2F4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147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Membership</a:t>
            </a:r>
          </a:p>
          <a:p xmlns:a="http://schemas.openxmlformats.org/drawingml/2006/main">
            <a:pPr algn="l">
              <a:defRPr sz="1200" b="0">
                <a:solidFill>
                  <a:srgbClr val="A7A7A7"/>
                </a:solidFill>
              </a:defRPr>
            </a:pPr>
            <a:r>
              <a:rPr sz="1200" b="0">
                <a:solidFill>
                  <a:srgbClr val="A7A7A7"/>
                </a:solidFill>
              </a:rPr>
              <a:t>products • referrals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B948F2-141A-4D83-839E-5236A705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31A"/>
                </a:solidFill>
              </a:defRPr>
            </a:pPr>
            <a:r>
              <a:rPr sz="975" b="1">
                <a:solidFill>
                  <a:srgbClr val="FFD31A"/>
                </a:solidFill>
              </a:rPr>
              <a:t>FIRST PRODUCTION WAVE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738642-84C0-4A14-A014-30B690CA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816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5F0"/>
                </a:solidFill>
              </a:defRPr>
            </a:pPr>
            <a:r>
              <a:rPr sz="1725" b="1">
                <a:solidFill>
                  <a:srgbClr val="F7F5F0"/>
                </a:solidFill>
              </a:rPr>
              <a:t>Yearbook • Bikini urgency • Executive maintenance • Mature ritual • Group chat • DMs • Dating • Health education</a:t>
            </a:r>
          </a:p>
        </p:txBody>
      </p:sp>
    </p:spTree>
    <p:extLst>
      <p:ext uri="{BB962C8B-B14F-4D97-AF65-F5344CB8AC3E}">
        <p14:creationId xmlns:p14="http://schemas.microsoft.com/office/powerpoint/2010/main" val="10245727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8FA4F-6019-473C-B2DD-D9468887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5F0"/>
                </a:solidFill>
              </a:defRPr>
            </a:pPr>
            <a:r>
              <a:rPr sz="1050" b="1">
                <a:solidFill>
                  <a:srgbClr val="F7F5F0"/>
                </a:solidFill>
              </a:rPr>
              <a:t>AMBER'S ESSENTIAL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B11E1-BCC1-4489-A175-2D280FB5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MEASUREMENT + NEXT WAVE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8C156-23CA-4E2F-AD6D-F876B2E7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1C116-4A42-4D2A-9F8C-B196A59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A7A7"/>
                </a:solidFill>
              </a:defRPr>
            </a:pPr>
            <a:r>
              <a:rPr sz="900" b="1">
                <a:solidFill>
                  <a:srgbClr val="A7A7A7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F48EC-50CE-4E92-B9C6-9B3B5C1D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3344"/>
                </a:solidFill>
              </a:defRPr>
            </a:pPr>
            <a:r>
              <a:rPr sz="1050" b="1">
                <a:solidFill>
                  <a:srgbClr val="FF3344"/>
                </a:solidFill>
              </a:rPr>
              <a:t>MEASURE EXPANSION BEFORE OPTIMIZING ONLY FOR PURCHASE.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3E3C0-CABE-4E0C-BB08-EC05F439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5F0"/>
                </a:solidFill>
              </a:defRPr>
            </a:pPr>
            <a:r>
              <a:rPr sz="3450" b="1">
                <a:solidFill>
                  <a:srgbClr val="F7F5F0"/>
                </a:solidFill>
              </a:rPr>
              <a:t>The campaign has to grow the reachable audience while proving which specific promises create demand.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32A9C-3EAB-4F69-AE5B-006B59F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19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344"/>
                </a:solidFill>
              </a:defRPr>
            </a:pPr>
            <a:r>
              <a:rPr sz="1125" b="1">
                <a:solidFill>
                  <a:srgbClr val="FF3344"/>
                </a:solidFill>
              </a:rPr>
              <a:t>ATTENTION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59B17-2CFE-49C7-9814-23430103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AE464-48DB-421B-8CBB-F718CC90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3-sec hold</a:t>
            </a:r>
          </a:p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thumb-stop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D5BED-FAB2-48D2-BC98-3C53E15F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19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31A"/>
                </a:solidFill>
              </a:defRPr>
            </a:pPr>
            <a:r>
              <a:rPr sz="1125" b="1">
                <a:solidFill>
                  <a:srgbClr val="FFD31A"/>
                </a:solidFill>
              </a:rPr>
              <a:t>ENGAGEMENT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87F89-13F1-47B9-AA41-C3097B37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908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05B93-65B2-463F-BA70-951A4F2B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385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Shares</a:t>
            </a:r>
          </a:p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comments • saves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F7F9B-DDDF-467A-B341-0734299C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BFF"/>
                </a:solidFill>
              </a:defRPr>
            </a:pPr>
            <a:r>
              <a:rPr sz="1125" b="1">
                <a:solidFill>
                  <a:srgbClr val="2F7BFF"/>
                </a:solidFill>
              </a:rPr>
              <a:t>AUDIENCE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B061F-EAFE-4B6F-8132-49B40ED9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A7954-79CC-4B94-893A-2EE7F85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Profile visits</a:t>
            </a:r>
          </a:p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follows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F6F08-70D4-4452-A5DE-ADA5EA5A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19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D597"/>
                </a:solidFill>
              </a:defRPr>
            </a:pPr>
            <a:r>
              <a:rPr sz="1125" b="1">
                <a:solidFill>
                  <a:srgbClr val="48D597"/>
                </a:solidFill>
              </a:rPr>
              <a:t>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CEFC-D25E-4E5B-AAE7-983565BA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908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AF055-4F43-4E5A-B541-F785D3B3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385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DMs</a:t>
            </a:r>
          </a:p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bookings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C2860-961B-4224-AFCC-0A73018B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19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5F0"/>
                </a:solidFill>
              </a:defRPr>
            </a:pPr>
            <a:r>
              <a:rPr sz="1125" b="1">
                <a:solidFill>
                  <a:srgbClr val="F7F5F0"/>
                </a:solidFill>
              </a:rPr>
              <a:t>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D85C0-40B0-4358-9BB0-F4FAC5F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908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42AC5-E990-4F51-A19E-DE7B1B2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Repeat visits</a:t>
            </a:r>
          </a:p>
          <a:p xmlns:a="http://schemas.openxmlformats.org/drawingml/2006/main">
            <a:pPr algn="l">
              <a:defRPr sz="1650" b="1">
                <a:solidFill>
                  <a:srgbClr val="F7F5F0"/>
                </a:solidFill>
              </a:defRPr>
            </a:pPr>
            <a:r>
              <a:rPr sz="1650" b="1">
                <a:solidFill>
                  <a:srgbClr val="F7F5F0"/>
                </a:solidFill>
              </a:rPr>
              <a:t>membership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43D06-8455-4E72-8A60-A0984D4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95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7A7"/>
                </a:solidFill>
              </a:defRPr>
            </a:pPr>
            <a:r>
              <a:rPr sz="1050" b="1">
                <a:solidFill>
                  <a:srgbClr val="A7A7A7"/>
                </a:solidFill>
              </a:rPr>
              <a:t>NEXT CREATIVE WAVE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DFB81F-2DDD-4A12-896C-109D1173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673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5F0"/>
                </a:solidFill>
              </a:defRPr>
            </a:pPr>
            <a:r>
              <a:rPr sz="1875" b="1">
                <a:solidFill>
                  <a:srgbClr val="F7F5F0"/>
                </a:solidFill>
              </a:rPr>
              <a:t>GROUP CHAT  /  DMs  /  DATING PROFILE  /  SUBURBAN LAWN  /  EDUCATIONAL MICRO-STORIES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53907-0F68-4AF2-9332-65CB11E1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76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5C6D0-9BA5-4B20-8224-CCD31854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5F0"/>
                </a:solidFill>
              </a:defRPr>
            </a:pPr>
            <a:r>
              <a:rPr sz="1725" b="1">
                <a:solidFill>
                  <a:srgbClr val="F7F5F0"/>
                </a:solidFill>
              </a:rPr>
              <a:t>BUILD AUDIENCE  →  LEARN DEMAND  →  EXPAND THE BRAND</a:t>
            </a:r>
          </a:p>
        </p:txBody>
      </p:sp>
    </p:spTree>
    <p:extLst>
      <p:ext uri="{BB962C8B-B14F-4D97-AF65-F5344CB8AC3E}">
        <p14:creationId xmlns:p14="http://schemas.microsoft.com/office/powerpoint/2010/main" val="889404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2026-08-14T13:56:16.1600000Z</dcterms:created>
  <dcterms:modified xsi:type="dcterms:W3CDTF">2026-08-14T13:56:16.1600000Z</dcterms:modified>
</coreProperties>
</file>